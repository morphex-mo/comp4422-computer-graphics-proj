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3" d="100"/>
          <a:sy n="73" d="100"/>
        </p:scale>
        <p:origin x="201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Star Collector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>
              <a:defRPr sz="2800">
                <a:solidFill>
                  <a:srgbClr val="64DCFF"/>
                </a:solidFill>
              </a:defRPr>
            </a:pPr>
            <a:r>
              <a:t>A 30-Second WebGL Storytelling Animation</a:t>
            </a:r>
            <a:br/>
            <a:br/>
            <a:r>
              <a:t> </a:t>
            </a:r>
            <a:r>
              <a:rPr lang="en-US"/>
              <a:t>HUANG Boxuan</a:t>
            </a:r>
            <a:r>
              <a:t>, </a:t>
            </a:r>
            <a:r>
              <a:rPr lang="en-US" altLang="zh-CN"/>
              <a:t>Liu Limeng</a:t>
            </a:r>
            <a:r>
              <a:t>, </a:t>
            </a:r>
            <a:r>
              <a:rPr lang="en-US"/>
              <a:t>Mo Fengyuan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Story &amp; Narrative (30-second timeline)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1600200"/>
            <a:ext cx="8229600" cy="4525963"/>
          </a:xfrm>
        </p:spPr>
        <p:txBody>
          <a:bodyPr>
            <a:normAutofit fontScale="87500"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chemeClr val="bg1"/>
                </a:solidFill>
              </a:rPr>
              <a:t>"Star Collector" tells a story about a fox collecting stars.</a:t>
            </a:r>
            <a:endParaRPr lang="en-US" altLang="zh-CN" dirty="0">
              <a:solidFill>
                <a:schemeClr val="bg1"/>
              </a:solidFill>
            </a:endParaRP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A little fox stands on a hill at dusk, gazing at the stars</a:t>
            </a: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Three falling stars are gently collected</a:t>
            </a: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Finally, countless star particles are released into the night sky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Key Moments:</a:t>
            </a:r>
            <a:endParaRPr dirty="0"/>
          </a:p>
          <a:p>
            <a:pPr marL="457200" lvl="1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0s     → Night falls, fox breathing calmly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11–17s → 1st star </a:t>
            </a:r>
            <a:r>
              <a:rPr lang="zh-CN" altLang="en-US" dirty="0"/>
              <a:t>→ </a:t>
            </a:r>
            <a:r>
              <a:rPr dirty="0"/>
              <a:t>flash &amp; disappear</a:t>
            </a:r>
            <a:r>
              <a:rPr lang="en-US" dirty="0"/>
              <a:t> </a:t>
            </a:r>
            <a:r>
              <a:rPr lang="zh-CN" altLang="en-US" dirty="0"/>
              <a:t>→</a:t>
            </a:r>
            <a:r>
              <a:rPr lang="en-US" dirty="0"/>
              <a:t> fox tilted its head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26–32s → 2nd star → </a:t>
            </a:r>
            <a:r>
              <a:rPr lang="en-US" dirty="0"/>
              <a:t>fox’s </a:t>
            </a:r>
            <a:r>
              <a:rPr dirty="0"/>
              <a:t>tail curls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33s    → Camera pulls back, particles emitted upward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endParaRPr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4575" y="2556510"/>
            <a:ext cx="4522470" cy="31070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Scene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4710" y="1417955"/>
            <a:ext cx="8229600" cy="4525963"/>
          </a:xfrm>
        </p:spPr>
        <p:txBody>
          <a:bodyPr/>
          <a:lstStyle/>
          <a:p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Central hill with a large tree</a:t>
            </a: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Fox positioned under the tree</a:t>
            </a: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Procedural rolling mountains (Perlin noise)</a:t>
            </a: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Sparse trees scattered on distant hills</a:t>
            </a: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Dynamic sky: sunset → deep night with visible stars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endParaRPr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660" y="4709795"/>
            <a:ext cx="9391650" cy="1628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3D Models – Fox &amp; Tree-Hill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7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Fox Model</a:t>
            </a: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Source: GLTF (downloaded)</a:t>
            </a: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Triangles: 11.1k</a:t>
            </a: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Full skeletal rigging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Tree-Hill Model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Source: GLTF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Triangles: 746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Used as central platform</a:t>
            </a: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Terrain &amp; Stars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480" y="1165860"/>
            <a:ext cx="8229600" cy="478726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2200"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sz="1900" dirty="0"/>
              <a:t>Procedural Terrain</a:t>
            </a:r>
            <a:endParaRPr sz="1900"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sz="1900" dirty="0"/>
              <a:t>• Multi-octave Perlin noise</a:t>
            </a:r>
            <a:endParaRPr sz="1900"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sz="1900" dirty="0"/>
              <a:t>• Flattened center for the fox</a:t>
            </a:r>
            <a:endParaRPr sz="1900"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endParaRPr sz="1900"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sz="1900" dirty="0"/>
              <a:t>Star Objects</a:t>
            </a:r>
            <a:endParaRPr sz="1900"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sz="1900" dirty="0"/>
              <a:t>• Double-layer glowing sphere</a:t>
            </a:r>
            <a:endParaRPr sz="1900"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sz="1900" dirty="0"/>
              <a:t>• Core + additive glow shell</a:t>
            </a:r>
            <a:endParaRPr sz="1900"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endParaRPr sz="1900"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sz="1900" dirty="0"/>
              <a:t>Star Particles</a:t>
            </a:r>
            <a:endParaRPr sz="1900"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sz="1900" dirty="0"/>
              <a:t>• Pool of 50 emissive spheres</a:t>
            </a:r>
            <a:endParaRPr sz="1900"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sz="1900" dirty="0"/>
              <a:t>• Dynamic opacity &amp; scale</a:t>
            </a:r>
            <a:endParaRPr sz="19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0240" y="1623695"/>
            <a:ext cx="6216015" cy="4536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Lighting &amp;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7090" y="1600200"/>
            <a:ext cx="8229600" cy="4525963"/>
          </a:xfrm>
        </p:spPr>
        <p:txBody>
          <a:bodyPr/>
          <a:lstStyle/>
          <a:p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Dynamic directional light (sun → moon)</a:t>
            </a: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Real-time day-night cycle (frozen at deep night)</a:t>
            </a: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Star self-illumination with additive glow</a:t>
            </a: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rPr dirty="0"/>
              <a:t>• Shadow casting on fox and trees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endParaRPr dirty="0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endParaRPr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090" y="4215765"/>
            <a:ext cx="6287135" cy="2028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Custom Toon Shader (Fox)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5870" y="1600200"/>
            <a:ext cx="8229600" cy="4525963"/>
          </a:xfrm>
        </p:spPr>
        <p:txBody>
          <a:bodyPr/>
          <a:lstStyle/>
          <a:p/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Features: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Step-wise diffuse (3 levels)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Hard specular highlights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Blue-white rim lighting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Shadow bands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Ambient term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535" y="2095500"/>
            <a:ext cx="5960745" cy="3491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Atmospheric Scattering &amp; Fog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/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Real-time Rayleigh + Mie scattering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Depth-based exponential fog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Greatly enhances depth and night mood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2780" y="1955165"/>
            <a:ext cx="6057900" cy="39890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Fox Animation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1420" y="1600200"/>
            <a:ext cx="8229600" cy="4525963"/>
          </a:xfrm>
        </p:spPr>
        <p:txBody>
          <a:bodyPr/>
          <a:lstStyle/>
          <a:p/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Breathing → sinusoidal position offset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Head tilt (18–25s)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Tail curl after second star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All driven by global timer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690" y="2952750"/>
            <a:ext cx="5452110" cy="23761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Star Falling &amp;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8310" y="1600200"/>
            <a:ext cx="8229600" cy="4525963"/>
          </a:xfrm>
        </p:spPr>
        <p:txBody>
          <a:bodyPr/>
          <a:lstStyle/>
          <a:p/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Easing (easeOutQuad)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Wavy drift + rotation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Flash → rapid fade &amp; shrink on collection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310" y="3962400"/>
            <a:ext cx="7119620" cy="25158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Particle System – Final Release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2420" y="1256030"/>
            <a:ext cx="8229600" cy="4525963"/>
          </a:xfrm>
        </p:spPr>
        <p:txBody>
          <a:bodyPr/>
          <a:lstStyle/>
          <a:p>
            <a:pPr marL="0" indent="0">
              <a:buNone/>
            </a:pP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Triggered at 33s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6 particles/sec, pool of 50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Upward acceleration + wavy drift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Fade-in → pulse → fade-out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420" y="3790950"/>
            <a:ext cx="6440170" cy="2555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Technical Discussion – Toon Shader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615" y="1600200"/>
            <a:ext cx="8229600" cy="4525963"/>
          </a:xfrm>
        </p:spPr>
        <p:txBody>
          <a:bodyPr/>
          <a:lstStyle/>
          <a:p/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Diffuse: floor(dot(N,L))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Specular: smoothstep threshold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Rim: pow(1 - dot(N,V), 2)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Shadow: biased shadowMap + step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4095" y="1931035"/>
            <a:ext cx="5088255" cy="43237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Technical Discussion – Atmosphere &amp; Terrain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1285" y="1600200"/>
            <a:ext cx="8229600" cy="4525963"/>
          </a:xfrm>
        </p:spPr>
        <p:txBody>
          <a:bodyPr/>
          <a:lstStyle/>
          <a:p/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Preetham atmospheric scattering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4-octave Perlin noise terrain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  <a:r>
              <a:t>• Distance-based flattening</a:t>
            </a:r>
          </a:p>
          <a:p>
            <a:pPr>
              <a:spcAft>
                <a:spcPts val="600"/>
              </a:spcAft>
              <a:defRPr sz="2200">
                <a:solidFill>
                  <a:srgbClr val="FFFFFF"/>
                </a:solidFill>
                <a:latin typeface="Calibri" panose="020F0502020204030204"/>
              </a:defRPr>
            </a:pP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FFFFFF"/>
                </a:solidFill>
                <a:latin typeface="Calibri" panose="020F0502020204030204"/>
              </a:defRPr>
            </a:p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285" y="3798570"/>
            <a:ext cx="5804535" cy="23279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Conclusion &amp;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5285" y="1600200"/>
            <a:ext cx="8229600" cy="4525963"/>
          </a:xfrm>
        </p:spPr>
        <p:txBody>
          <a:bodyPr>
            <a:normAutofit fontScale="92500"/>
          </a:bodyPr>
          <a:lstStyle/>
          <a:p/>
          <a:p>
            <a:pPr>
              <a:spcAft>
                <a:spcPts val="600"/>
              </a:spcAft>
              <a:defRPr sz="2200">
                <a:solidFill>
                  <a:srgbClr val="64DCFF"/>
                </a:solidFill>
                <a:latin typeface="Calibri" panose="020F0502020204030204"/>
              </a:defRPr>
            </a:pPr>
            <a:r>
              <a:rPr b="1"/>
              <a:t>Achievements</a:t>
            </a:r>
            <a:endParaRPr b="1"/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64DCFF"/>
                </a:solidFill>
                <a:latin typeface="Calibri" panose="020F0502020204030204"/>
              </a:defRPr>
            </a:pPr>
            <a:r>
              <a:t>• Complete 30s story-driven WebGL animation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64DCFF"/>
                </a:solidFill>
                <a:latin typeface="Calibri" panose="020F0502020204030204"/>
              </a:defRPr>
            </a:pPr>
            <a:r>
              <a:t>• Custom toon + atmospheric shaders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64DCFF"/>
                </a:solidFill>
                <a:latin typeface="Calibri" panose="020F0502020204030204"/>
              </a:defRPr>
            </a:pPr>
            <a:r>
              <a:t>• Sophisticated particle &amp; animation system</a:t>
            </a:r>
          </a:p>
          <a:p>
            <a:pPr marL="0" indent="0">
              <a:spcAft>
                <a:spcPts val="600"/>
              </a:spcAft>
              <a:buNone/>
              <a:defRPr sz="2200">
                <a:solidFill>
                  <a:srgbClr val="64DCFF"/>
                </a:solidFill>
                <a:latin typeface="Calibri" panose="020F0502020204030204"/>
              </a:defRPr>
            </a:pPr>
            <a:r>
              <a:t>• Precise timeline synchronization</a:t>
            </a:r>
          </a:p>
          <a:p>
            <a:pPr>
              <a:spcAft>
                <a:spcPts val="600"/>
              </a:spcAft>
              <a:defRPr sz="2200">
                <a:solidFill>
                  <a:srgbClr val="64DCFF"/>
                </a:solidFill>
                <a:latin typeface="Calibri" panose="020F0502020204030204"/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64DCFF"/>
                </a:solidFill>
                <a:latin typeface="Calibri" panose="020F0502020204030204"/>
              </a:defRPr>
            </a:pPr>
            <a:r>
              <a:t>Live Demo: </a:t>
            </a:r>
            <a:r>
              <a:rPr lang="en-US" altLang="zh-CN"/>
              <a:t>morphex-mo.github.io/COMP4422-Computer-Graphics-Proj/?scene=starCollectorScene</a:t>
            </a:r>
            <a:endParaRPr lang="en-US" altLang="zh-CN"/>
          </a:p>
          <a:p>
            <a:pPr>
              <a:spcAft>
                <a:spcPts val="600"/>
              </a:spcAft>
              <a:defRPr sz="2200">
                <a:solidFill>
                  <a:srgbClr val="64DCFF"/>
                </a:solidFill>
                <a:latin typeface="Calibri" panose="020F0502020204030204"/>
              </a:defRPr>
            </a:pPr>
            <a:r>
              <a:t>Source Code:</a:t>
            </a:r>
            <a:r>
              <a:rPr lang="en-US" altLang="zh-CN"/>
              <a:t>github.com/Morphex-Mo/COMP4422-Computer-Graphics-Proj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8310" y="274638"/>
            <a:ext cx="8229600" cy="1143000"/>
          </a:xfrm>
        </p:spPr>
        <p:txBody>
          <a:bodyPr/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Team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6505" y="1600200"/>
            <a:ext cx="8229600" cy="4525963"/>
          </a:xfrm>
        </p:spPr>
        <p:txBody>
          <a:bodyPr/>
          <a:lstStyle/>
          <a:p/>
          <a:p>
            <a:pPr>
              <a:spcAft>
                <a:spcPts val="600"/>
              </a:spcAft>
              <a:defRPr sz="2000">
                <a:solidFill>
                  <a:srgbClr val="64DCFF"/>
                </a:solidFill>
                <a:latin typeface="Calibri" panose="020F0502020204030204"/>
              </a:defRPr>
            </a:pPr>
            <a:r>
              <a:t>Member          </a:t>
            </a:r>
            <a:r>
              <a:rPr lang="en-US"/>
              <a:t>       </a:t>
            </a:r>
            <a:r>
              <a:t>SID        </a:t>
            </a:r>
            <a:r>
              <a:rPr lang="en-US"/>
              <a:t>                 </a:t>
            </a:r>
            <a:r>
              <a:t>Main Responsibilities</a:t>
            </a:r>
          </a:p>
          <a:p>
            <a:pPr marL="0" indent="0">
              <a:spcAft>
                <a:spcPts val="600"/>
              </a:spcAft>
              <a:buNone/>
              <a:defRPr sz="2000">
                <a:solidFill>
                  <a:srgbClr val="64DCFF"/>
                </a:solidFill>
                <a:latin typeface="Calibri" panose="020F0502020204030204"/>
              </a:defRPr>
            </a:pPr>
            <a:r>
              <a:t>───────────────────────────────────────</a:t>
            </a:r>
            <a:r>
              <a:rPr>
                <a:sym typeface="+mn-ea"/>
              </a:rPr>
              <a:t>────────────</a:t>
            </a:r>
            <a:endParaRPr>
              <a:sym typeface="+mn-ea"/>
            </a:endParaRPr>
          </a:p>
          <a:p>
            <a:pPr marL="0" indent="0">
              <a:spcAft>
                <a:spcPts val="600"/>
              </a:spcAft>
              <a:buNone/>
              <a:defRPr sz="2000">
                <a:solidFill>
                  <a:srgbClr val="64DCFF"/>
                </a:solidFill>
                <a:latin typeface="Calibri" panose="020F0502020204030204"/>
              </a:defRPr>
            </a:pPr>
            <a:r>
              <a:rPr lang="en-US">
                <a:sym typeface="+mn-ea"/>
              </a:rPr>
              <a:t>HUANG Boxuan      </a:t>
            </a:r>
            <a:r>
              <a:rPr lang="en-US" altLang="zh-CN"/>
              <a:t>23100165d              Atmosphere, fox</a:t>
            </a:r>
            <a:endParaRPr lang="en-US" altLang="zh-CN"/>
          </a:p>
          <a:p>
            <a:pPr marL="0" indent="0">
              <a:spcAft>
                <a:spcPts val="600"/>
              </a:spcAft>
              <a:buNone/>
              <a:defRPr sz="2000">
                <a:solidFill>
                  <a:srgbClr val="64DCFF"/>
                </a:solidFill>
                <a:latin typeface="Calibri" panose="020F0502020204030204"/>
              </a:defRPr>
            </a:pPr>
            <a:r>
              <a:rPr lang="en-US" altLang="zh-CN"/>
              <a:t>Liu Limeng               20101524d              Mountain, Report</a:t>
            </a:r>
            <a:endParaRPr lang="en-US" altLang="zh-CN"/>
          </a:p>
          <a:p>
            <a:pPr marL="0" indent="0">
              <a:spcAft>
                <a:spcPts val="600"/>
              </a:spcAft>
              <a:buNone/>
              <a:defRPr sz="2000">
                <a:solidFill>
                  <a:srgbClr val="64DCFF"/>
                </a:solidFill>
                <a:latin typeface="Calibri" panose="020F0502020204030204"/>
              </a:defRPr>
            </a:pPr>
            <a:r>
              <a:rPr lang="en-US"/>
              <a:t>Mo Fengyuan          </a:t>
            </a:r>
            <a:r>
              <a:rPr lang="en-US" altLang="zh-CN"/>
              <a:t>25011254x              Stars, PPT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F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78FF"/>
                </a:solidFill>
                <a:latin typeface="Montserrat"/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3600">
                <a:solidFill>
                  <a:srgbClr val="64DCFF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2991</Words>
  <Application>WPS 演示</Application>
  <PresentationFormat>自定义</PresentationFormat>
  <Paragraphs>145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Arial</vt:lpstr>
      <vt:lpstr>Montserrat</vt:lpstr>
      <vt:lpstr>Segoe Print</vt:lpstr>
      <vt:lpstr>Calibri</vt:lpstr>
      <vt:lpstr>微软雅黑</vt:lpstr>
      <vt:lpstr>Arial Unicode MS</vt:lpstr>
      <vt:lpstr>Office Theme</vt:lpstr>
      <vt:lpstr>Star Collector</vt:lpstr>
      <vt:lpstr>Story &amp; Narrative (30-second timeline)</vt:lpstr>
      <vt:lpstr>Scene Design</vt:lpstr>
      <vt:lpstr>3D Models – Fox &amp; Tree-Hill</vt:lpstr>
      <vt:lpstr>Terrain &amp; Stars</vt:lpstr>
      <vt:lpstr>Lighting &amp; Environment</vt:lpstr>
      <vt:lpstr>Custom Toon Shader (Fox)</vt:lpstr>
      <vt:lpstr>Atmospheric Scattering &amp; Fog</vt:lpstr>
      <vt:lpstr>Fox Animation</vt:lpstr>
      <vt:lpstr>Star Falling &amp; Collection</vt:lpstr>
      <vt:lpstr>Particle System – Final Release</vt:lpstr>
      <vt:lpstr>Technical Discussion – Toon Shader</vt:lpstr>
      <vt:lpstr>Technical Discussion – Atmosphere &amp; Terrain</vt:lpstr>
      <vt:lpstr>Conclusion &amp; Highlights</vt:lpstr>
      <vt:lpstr>Team Contribution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Tony</cp:lastModifiedBy>
  <cp:revision>11</cp:revision>
  <dcterms:created xsi:type="dcterms:W3CDTF">2013-01-27T09:14:00Z</dcterms:created>
  <dcterms:modified xsi:type="dcterms:W3CDTF">2025-12-01T14:29:15Z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1B13F7CC6E734FEF8BCE1830CF3BE52B_13</vt:lpwstr>
  </property>
  <property fmtid="{D5CDD505-2E9C-101B-9397-08002B2CF9AE}" pid="3" name="KSOProductBuildVer">
    <vt:lpwstr>2052-12.1.0.23542</vt:lpwstr>
  </property>
</Properties>
</file>